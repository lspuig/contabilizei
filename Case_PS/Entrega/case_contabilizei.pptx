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Variação YoY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Vendas</c:v>
                </c:pt>
                <c:pt idx="1">
                  <c:v>Leads</c:v>
                </c:pt>
                <c:pt idx="2">
                  <c:v>Usuários</c:v>
                </c:pt>
                <c:pt idx="3">
                  <c:v>Invest.</c:v>
                </c:pt>
                <c:pt idx="4">
                  <c:v>CAC</c:v>
                </c:pt>
                <c:pt idx="5">
                  <c:v>Mkt share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22.6</c:v>
                </c:pt>
                <c:pt idx="1">
                  <c:v>59.1</c:v>
                </c:pt>
                <c:pt idx="2">
                  <c:v>44.6</c:v>
                </c:pt>
                <c:pt idx="3">
                  <c:v>288.9</c:v>
                </c:pt>
                <c:pt idx="4">
                  <c:v>217.0</c:v>
                </c:pt>
                <c:pt idx="5">
                  <c:v>33.6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Variação abr/21 → abr/22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Abr/21</c:v>
                </c:pt>
                <c:pt idx="1">
                  <c:v>Mai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  <c:pt idx="5">
                  <c:v>Set</c:v>
                </c:pt>
                <c:pt idx="6">
                  <c:v>Out</c:v>
                </c:pt>
                <c:pt idx="7">
                  <c:v>Nov</c:v>
                </c:pt>
                <c:pt idx="8">
                  <c:v>Dez</c:v>
                </c:pt>
                <c:pt idx="9">
                  <c:v>Jan/22</c:v>
                </c:pt>
                <c:pt idx="10">
                  <c:v>Fev</c:v>
                </c:pt>
                <c:pt idx="11">
                  <c:v>Mar</c:v>
                </c:pt>
                <c:pt idx="12">
                  <c:v>Abr/22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2190</c:v>
                </c:pt>
                <c:pt idx="1">
                  <c:v>2326</c:v>
                </c:pt>
                <c:pt idx="2">
                  <c:v>2310</c:v>
                </c:pt>
                <c:pt idx="3">
                  <c:v>2374</c:v>
                </c:pt>
                <c:pt idx="4">
                  <c:v>2488</c:v>
                </c:pt>
                <c:pt idx="5">
                  <c:v>2306</c:v>
                </c:pt>
                <c:pt idx="6">
                  <c:v>2057</c:v>
                </c:pt>
                <c:pt idx="7">
                  <c:v>2030</c:v>
                </c:pt>
                <c:pt idx="8">
                  <c:v>1906</c:v>
                </c:pt>
                <c:pt idx="9">
                  <c:v>2769</c:v>
                </c:pt>
                <c:pt idx="10">
                  <c:v>2574</c:v>
                </c:pt>
                <c:pt idx="11">
                  <c:v>2934</c:v>
                </c:pt>
                <c:pt idx="12">
                  <c:v>2686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Mkt share (%)</c:v>
                </c:pt>
              </c:strCache>
            </c:strRef>
          </c:tx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Abr/21</c:v>
                </c:pt>
                <c:pt idx="1">
                  <c:v>Mai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  <c:pt idx="5">
                  <c:v>Set</c:v>
                </c:pt>
                <c:pt idx="6">
                  <c:v>Out</c:v>
                </c:pt>
                <c:pt idx="7">
                  <c:v>Nov</c:v>
                </c:pt>
                <c:pt idx="8">
                  <c:v>Dez</c:v>
                </c:pt>
                <c:pt idx="9">
                  <c:v>Jan/22</c:v>
                </c:pt>
                <c:pt idx="10">
                  <c:v>Fev</c:v>
                </c:pt>
                <c:pt idx="11">
                  <c:v>Mar</c:v>
                </c:pt>
                <c:pt idx="12">
                  <c:v>Abr/22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4.14</c:v>
                </c:pt>
                <c:pt idx="1">
                  <c:v>3.84</c:v>
                </c:pt>
                <c:pt idx="2">
                  <c:v>4.08</c:v>
                </c:pt>
                <c:pt idx="3">
                  <c:v>4.2</c:v>
                </c:pt>
                <c:pt idx="4">
                  <c:v>4.14</c:v>
                </c:pt>
                <c:pt idx="5">
                  <c:v>4.43</c:v>
                </c:pt>
                <c:pt idx="6">
                  <c:v>3.63</c:v>
                </c:pt>
                <c:pt idx="7">
                  <c:v>3.95</c:v>
                </c:pt>
                <c:pt idx="8">
                  <c:v>5.89</c:v>
                </c:pt>
                <c:pt idx="9">
                  <c:v>5.04</c:v>
                </c:pt>
                <c:pt idx="10">
                  <c:v>5.19</c:v>
                </c:pt>
                <c:pt idx="11">
                  <c:v>5.06</c:v>
                </c:pt>
                <c:pt idx="12">
                  <c:v>5.53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(R$)</c:v>
                </c:pt>
              </c:strCache>
            </c:strRef>
          </c:tx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Abr/21</c:v>
                </c:pt>
                <c:pt idx="1">
                  <c:v>Mai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  <c:pt idx="5">
                  <c:v>Set</c:v>
                </c:pt>
                <c:pt idx="6">
                  <c:v>Out</c:v>
                </c:pt>
                <c:pt idx="7">
                  <c:v>Nov</c:v>
                </c:pt>
                <c:pt idx="8">
                  <c:v>Dez</c:v>
                </c:pt>
                <c:pt idx="9">
                  <c:v>Jan/22</c:v>
                </c:pt>
                <c:pt idx="10">
                  <c:v>Fev</c:v>
                </c:pt>
                <c:pt idx="11">
                  <c:v>Mar</c:v>
                </c:pt>
                <c:pt idx="12">
                  <c:v>Abr/22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114.34</c:v>
                </c:pt>
                <c:pt idx="1">
                  <c:v>144.57</c:v>
                </c:pt>
                <c:pt idx="2">
                  <c:v>165.05</c:v>
                </c:pt>
                <c:pt idx="3">
                  <c:v>185.23</c:v>
                </c:pt>
                <c:pt idx="4">
                  <c:v>291.07</c:v>
                </c:pt>
                <c:pt idx="5">
                  <c:v>269.02</c:v>
                </c:pt>
                <c:pt idx="6">
                  <c:v>265.96</c:v>
                </c:pt>
                <c:pt idx="7">
                  <c:v>272.04</c:v>
                </c:pt>
                <c:pt idx="8">
                  <c:v>300.81</c:v>
                </c:pt>
                <c:pt idx="9">
                  <c:v>324.74</c:v>
                </c:pt>
                <c:pt idx="10">
                  <c:v>319.25</c:v>
                </c:pt>
                <c:pt idx="11">
                  <c:v>321.14</c:v>
                </c:pt>
                <c:pt idx="12">
                  <c:v>362.51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Lead→Venda (%)</c:v>
                </c:pt>
              </c:strCache>
            </c:strRef>
          </c:tx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Abr/21</c:v>
                </c:pt>
                <c:pt idx="1">
                  <c:v>Mai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  <c:pt idx="5">
                  <c:v>Set</c:v>
                </c:pt>
                <c:pt idx="6">
                  <c:v>Out</c:v>
                </c:pt>
                <c:pt idx="7">
                  <c:v>Nov</c:v>
                </c:pt>
                <c:pt idx="8">
                  <c:v>Dez</c:v>
                </c:pt>
                <c:pt idx="9">
                  <c:v>Jan/22</c:v>
                </c:pt>
                <c:pt idx="10">
                  <c:v>Fev</c:v>
                </c:pt>
                <c:pt idx="11">
                  <c:v>Mar</c:v>
                </c:pt>
                <c:pt idx="12">
                  <c:v>Abr/22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29.63</c:v>
                </c:pt>
                <c:pt idx="1">
                  <c:v>28.8</c:v>
                </c:pt>
                <c:pt idx="2">
                  <c:v>24.91</c:v>
                </c:pt>
                <c:pt idx="3">
                  <c:v>31.7</c:v>
                </c:pt>
                <c:pt idx="4">
                  <c:v>27.89</c:v>
                </c:pt>
                <c:pt idx="5">
                  <c:v>26.41</c:v>
                </c:pt>
                <c:pt idx="6">
                  <c:v>24.55</c:v>
                </c:pt>
                <c:pt idx="7">
                  <c:v>25.84</c:v>
                </c:pt>
                <c:pt idx="8">
                  <c:v>24.93</c:v>
                </c:pt>
                <c:pt idx="9">
                  <c:v>22.39</c:v>
                </c:pt>
                <c:pt idx="10">
                  <c:v>23.15</c:v>
                </c:pt>
                <c:pt idx="11">
                  <c:v>24.95</c:v>
                </c:pt>
                <c:pt idx="12">
                  <c:v>22.84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Meses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Sheet1!$A$2:$A$14</c:f>
              <c:numCache>
                <c:formatCode>General</c:formatCode>
                <c:ptCount val="13"/>
                <c:pt idx="0">
                  <c:v>250.407</c:v>
                </c:pt>
                <c:pt idx="1">
                  <c:v>336.276</c:v>
                </c:pt>
                <c:pt idx="2">
                  <c:v>381.262</c:v>
                </c:pt>
                <c:pt idx="3">
                  <c:v>439.728</c:v>
                </c:pt>
                <c:pt idx="4">
                  <c:v>724.186</c:v>
                </c:pt>
                <c:pt idx="5">
                  <c:v>620.353</c:v>
                </c:pt>
                <c:pt idx="6">
                  <c:v>547.078</c:v>
                </c:pt>
                <c:pt idx="7">
                  <c:v>552.24</c:v>
                </c:pt>
                <c:pt idx="8">
                  <c:v>573.339</c:v>
                </c:pt>
                <c:pt idx="9">
                  <c:v>899.2</c:v>
                </c:pt>
                <c:pt idx="10">
                  <c:v>821.753</c:v>
                </c:pt>
                <c:pt idx="11">
                  <c:v>942.215</c:v>
                </c:pt>
                <c:pt idx="12">
                  <c:v>973.712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114.34</c:v>
                </c:pt>
                <c:pt idx="1">
                  <c:v>144.57</c:v>
                </c:pt>
                <c:pt idx="2">
                  <c:v>165.05</c:v>
                </c:pt>
                <c:pt idx="3">
                  <c:v>185.23</c:v>
                </c:pt>
                <c:pt idx="4">
                  <c:v>291.07</c:v>
                </c:pt>
                <c:pt idx="5">
                  <c:v>269.02</c:v>
                </c:pt>
                <c:pt idx="6">
                  <c:v>265.96</c:v>
                </c:pt>
                <c:pt idx="7">
                  <c:v>272.04</c:v>
                </c:pt>
                <c:pt idx="8">
                  <c:v>300.81</c:v>
                </c:pt>
                <c:pt idx="9">
                  <c:v>324.74</c:v>
                </c:pt>
                <c:pt idx="10">
                  <c:v>319.25</c:v>
                </c:pt>
                <c:pt idx="11">
                  <c:v>321.14</c:v>
                </c:pt>
                <c:pt idx="12">
                  <c:v>362.51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Investimento (R$ mil)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CAC (R$)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Dependência de CAC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Linear: mídia</c:v>
                </c:pt>
                <c:pt idx="1">
                  <c:v>Estratégico: mix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Qualidade/distribuição/produto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Linear: mídia</c:v>
                </c:pt>
                <c:pt idx="1">
                  <c:v>Estratégico: mix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 incremental anual (R$ 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Realista (auditado)</c:v>
                </c:pt>
                <c:pt idx="2">
                  <c:v>Estratégico</c:v>
                </c:pt>
                <c:pt idx="3">
                  <c:v>Sazonal (novo)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2.17</c:v>
                </c:pt>
                <c:pt idx="1">
                  <c:v>16.09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R$ milhões/ano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5028" cy="685800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5028" y="0"/>
            <a:ext cx="670392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Case
Contabilizei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Análise de produto e crescimento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F5E8"/>
                </a:solidFill>
              </a:rPr>
              <a:t>Maio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A Contabilizei ganhou share, mas o motor atual mostra rendimentos decrescentes claros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148840" cy="2926080"/>
          </a:xfrm>
          <a:prstGeom prst="rect">
            <a:avLst/>
          </a:prstGeom>
          <a:solidFill>
            <a:srgbClr val="F4F4F9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2148840" cy="347472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4081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8308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Share comprado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2140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3D5C"/>
                </a:solidFill>
              </a:rPr>
              <a:t>Market share subiu 4,14 % → 5,53 %, mas investimento cresceu +288,9 % enquanto vendas avançaram só +22,6 %.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371600"/>
            <a:ext cx="2148840" cy="2926080"/>
          </a:xfrm>
          <a:prstGeom prst="rect">
            <a:avLst/>
          </a:prstGeom>
          <a:solidFill>
            <a:srgbClr val="F4F4F9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0048" y="1371600"/>
            <a:ext cx="2148840" cy="347472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4081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178308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Funil menos eficiente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12140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3D5C"/>
                </a:solidFill>
              </a:rPr>
              <a:t>CAC saiu de R$ 114 para R$ 362 (+217 %) e conversão Lead→Venda caiu de 29,6 % para 22,8 %.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0056" y="1371600"/>
            <a:ext cx="2148840" cy="2926080"/>
          </a:xfrm>
          <a:prstGeom prst="rect">
            <a:avLst/>
          </a:prstGeom>
          <a:solidFill>
            <a:srgbClr val="F4F4F9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0056" y="1371600"/>
            <a:ext cx="2148840" cy="347472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8" y="14081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178308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Saturação evidente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212140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3D5C"/>
                </a:solidFill>
              </a:rPr>
              <a:t>Correlação Investimento↔CAC = 0,934; quatro anomalias apontam dependência de mídia, sazonalidade e lead menos qualificado.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1371600"/>
            <a:ext cx="2148840" cy="2926080"/>
          </a:xfrm>
          <a:prstGeom prst="rect">
            <a:avLst/>
          </a:prstGeom>
          <a:solidFill>
            <a:srgbClr val="F4F4F9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1371600"/>
            <a:ext cx="2148840" cy="347472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14081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178308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Mercado mudou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212140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3D5C"/>
                </a:solidFill>
              </a:rPr>
              <a:t>MEI digital, Reforma Tributária, IA fiscal, Open Finance e consolidação redefinem onde capturar crescimento em 2026.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371600"/>
            <a:ext cx="2148840" cy="2926080"/>
          </a:xfrm>
          <a:prstGeom prst="rect">
            <a:avLst/>
          </a:prstGeom>
          <a:solidFill>
            <a:srgbClr val="F4F4F9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0072" y="1371600"/>
            <a:ext cx="2148840" cy="347472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3224" y="14081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178308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Quatro caminhos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212140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3D5C"/>
                </a:solidFill>
              </a:rPr>
              <a:t>Para 6 %+: estratégico e sazonal preservam capital; linear pede R$ 2,17M/ano e realista R$ 10,1M/ano em mídia (ε = 0,10).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Investimento quase quadruplicou, mas vendas só +22,6% — o share foi comprado com custo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o ganho de share veio junto de deterioração severa de eficiência; o mercado não explica sozinho o aumento de CAC.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74320" y="2057400"/>
          <a:ext cx="64922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86600" y="2148840"/>
          <a:ext cx="45262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570"/>
                <a:gridCol w="1131570"/>
                <a:gridCol w="1131570"/>
                <a:gridCol w="1131570"/>
              </a:tblGrid>
              <a:tr h="37490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Abr/21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Abr/22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Investimento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R$ 250k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R$ 974k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+288,9%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Vendas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2.190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2.686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+22,6%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+217,0%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Market share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4,14%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5,53%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+1,39 p.p.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086600" y="4251960"/>
            <a:ext cx="4526280" cy="10058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4251960"/>
            <a:ext cx="64008" cy="10058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325112"/>
            <a:ext cx="43434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Sinal de alerta do dataset: o investimento cresceu ~4x mais rápido que as vendas no mesmo período.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89788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Pesquisa/02_analise_dados.md, seções 3.1 e Resumo executivo.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Antes de acelerar mídia, é preciso provar que o CAC marginal ainda cria valor.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Dezembro elevou share para 5,89%, mas por contração do mercado — não por tração saudável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dezembro distorce a leitura de market share porque o denominador encolhe mais que as vendas.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74320" y="2011680"/>
          <a:ext cx="7452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8092440" y="205740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130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Mercado em dez/21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404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32.338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926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menor total da série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05740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130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Vendas em dez/21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404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1.906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926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menor volume da série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61188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685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Share em dez/21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9593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5,89%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480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pico por denominador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361188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3685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CAC em dez/21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9593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R$ 301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4480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investimento ainda alto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5166360"/>
            <a:ext cx="4206240" cy="685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5166360"/>
            <a:ext cx="64008" cy="685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5239512"/>
            <a:ext cx="40233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Leitura prática: usar dezembro como referência de meta superestima tração real.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89788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Pesquisa/02_analise_dados.md, seções 2, 4.1 e 4.5.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Meta de share deve usar abril/22 ou média recente, não o pico sazonal de dezembro.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Topo de funil escala, mas conversão e CAC contam outra história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os KPIs mostram escala no topo, mas eficiência em queda no meio e fundo do funil.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30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CAC médio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04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R$ 257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mín R$ 114 / máx R$ 363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05740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130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Lead→Venda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404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26,0%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926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29,6% → 22,8% YoY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05740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130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Usuário→Lead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404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0,71%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926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média do período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05740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130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Usuário→Venda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404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0,18%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926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média do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2057400"/>
            <a:ext cx="2011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C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2130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Market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404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9A57"/>
                </a:solidFill>
              </a:rPr>
              <a:t>4,55%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926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8A"/>
                </a:solidFill>
              </a:rPr>
              <a:t>média; máx 5,89%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11480" y="3794760"/>
          <a:ext cx="5760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Etapa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Volume médio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Leitura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Usuários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~1.319.277/mês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topo de funil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Leads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~9.289/mês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0,71% dos usuários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Vendas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~2.381/mês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26,0% dos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Mercado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~53.091/mês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D3D5C"/>
                          </a:solidFill>
                        </a:defRPr>
                      </a:pPr>
                      <a:r>
                        <a:t>4,55% de share médio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583680" y="3794760"/>
            <a:ext cx="5212080" cy="1600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3794760"/>
            <a:ext cx="64008" cy="16002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867912"/>
            <a:ext cx="502920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O dataset não traz LTV, MRR, churn, ticket médio ou breakdown por canal; portanto, CAC/LTV e ROAS por canal não são calculáveis.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89788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Pesquisa/02_analise_dados.md, seções 1, 2, 3.1 e 5.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O gargalo mensurável está na qualidade/fechamento dos leads, não na falta de audiência.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A tendência mensal é inequívoca: CAC +R$18,84/mês e conversão −0,56 p.p./mês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mês a mês, CAC sobe enquanto a conversão Lead→Venda cai — o funil fica mais caro e menos seletivo.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74320" y="2011680"/>
          <a:ext cx="557784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63640" y="2011680"/>
          <a:ext cx="5577840" cy="3337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103120" y="5440680"/>
          <a:ext cx="7955279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59"/>
                <a:gridCol w="2651759"/>
                <a:gridCol w="2651761"/>
              </a:tblGrid>
              <a:tr h="1143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Tendência linear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Direção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Vendas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+37 unidades/mês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positivo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Investimento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+R$ 55.715/mês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crescente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+R$ 18,84/mês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piora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Conv. L→V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−0,56 p.p./mês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piora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Market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+0,13 p.p./mês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positivo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4320" y="617220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Pesquisa/02_analise_dados.md, seções 2 e 3.2.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A trajetória mensal reforça rendimentos decrescentes: crescer volume exigiu aceitar CAC maior.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Correlação Inv↔CAC de 0,934 mostra que o motor atual compra custo junto com crescimento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a relação mais forte do dataset é Investimento↔CAC, evidência de saturação ou rendimento marginal decrescente.</a:t>
            </a:r>
          </a:p>
        </p:txBody>
      </p:sp>
      <p:pic>
        <p:nvPicPr>
          <p:cNvPr id="12" name="Picture 11" descr="heatmap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897880" cy="483089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858000" y="2240280"/>
            <a:ext cx="4709160" cy="1143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2240280"/>
            <a:ext cx="64008" cy="1143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2313432"/>
            <a:ext cx="45262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Correlação Investimento↔CAC = 0,934: mais gasto não converte proporcionalmente em vendas; compra custo.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0" y="3703320"/>
          <a:ext cx="4709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/>
                <a:gridCol w="1569720"/>
                <a:gridCol w="1569720"/>
              </a:tblGrid>
              <a:tr h="2834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Par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Correlação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Leitura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Investimento↔CAC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0,934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sinal mais relevante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Investimento↔Vendas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0,716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cresce, mas menos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Leads↔Vendas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0,864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volume ainda importa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Vendas↔CAC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0,421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baixo alinhamento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4320" y="598932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Pesquisa/02_analise_dados.md, seção 3.4.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A pergunta não é quanto aumentar o investimento; é onde o investimento deixa de render.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Quatro anomalias mostram um funil dependente de mídia, sazonalidade e lead menos qualificado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quatro anomalias explicam por que projeções lineares de crescimento subestimam risco operacional.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74320" y="2057400"/>
          <a:ext cx="566928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55080" y="214884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3891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Anomalia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Evidência literal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Dez/21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Menor mercado (32.338) e vendas (1.906), mas share 5,89%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Jan/22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Leads +61,7% m/m; conversão cai para 22,39%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Novos usuários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Faixa estrutural de 81,7% a 85,9% dos usuários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Inv × vendas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Investimento +288,9% vs vendas +22,6%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355080" y="4572000"/>
            <a:ext cx="5394960" cy="86868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4572000"/>
            <a:ext cx="64008" cy="86868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45152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Interpretação: campanha de maior volume parece ter trazido lead menos qualificado e dependência de tráfego novo.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89788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Pesquisa/02_analise_dados.md, seção 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As anomalias apontam para qualificação, sazonalidade e canal, não apenas para orçamento.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O mercado de 2026 favorece quem automatiza complexidade fiscal para o novo MEI digital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2026 redefine o TAM: abertura de empresa é só uma camada; o valor migra para automação fiscal e verticalização.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148840"/>
          <a:ext cx="110642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454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Tendência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Evidência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Implicação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MEI 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4,6M novos pequenos negócios em 2025; MEIs = 77% das aberturas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produto vertical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Creator economy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2M influenciadores no Brasil; +67% em 12 meses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novo funil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E-commerce MPE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R$ 67 bi em 2024; +1.200% desde 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integrações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Reforma Tributária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2026–2033; campos IBS/CBS obrigatórios nos DF-e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urgência fiscal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Open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picos de 4 bi chamadas/semana em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conciliação automática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Consolidação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85k empresas contábeis; M&amp;A Brasil +71% no H1/25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M&amp;A/carteiras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280160" y="5349240"/>
            <a:ext cx="9418320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0160" y="5349240"/>
            <a:ext cx="64008" cy="68580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422392"/>
            <a:ext cx="92354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O TAM mensal de ~53k aberturas da planilha mede aquisição; não mede monetização pós-abertura nem complexidade fiscal crescente.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12648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Pesquisa/05_tendencias.md, seções 1–5.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A oportunidade 2026 é capturar segmentos e obrigações novas, não só mais cliques para abertura.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A Contabilizei é única nas três camadas, mas bancos e ERPs têm distribuição para invadir contabilidade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o diferencial da Contabilizei é o cruzamento banking + ERP + contabilidade, mas concorrentes atacam pelas bordas.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2103120"/>
          <a:ext cx="111556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94335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Player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Camada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Ticket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Ameaça principal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Conta Azul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ERP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R$ 160–R$ 720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cliente mantém contador separado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Omie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ERP + rede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a partir de R$ 99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10k+ contadores parceiros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Nubank PJ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gratuito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100M+ clientes PF como funil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Stone PJ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banking/adquirência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gratuito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2,1M PJs e principalidade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Cora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gratuito / Pro R$ 44,90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parcerias com escritórios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BPO tradicional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contabilidade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R$ 800–R$ 1.500+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advisory e relacionamento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Autônomos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contabilidade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R$ 150–R$ 450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D3D5C"/>
                          </a:solidFill>
                        </a:defRPr>
                      </a:pPr>
                      <a:r>
                        <a:t>personalização e preço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960120" y="5440680"/>
            <a:ext cx="10149840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5440680"/>
            <a:ext cx="64008" cy="68580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513832"/>
            <a:ext cx="99669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Síntese do mapeamento: nenhum concorrente cobre simultaneamente banking + ERP + contabilidade para MEI/ME; esse é o moat convertível em crescimento.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17220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Pesquisa/04_concorrentes.md, seções 2 e 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Defender passivamente o moat é insuficiente; Nubank, Stone, Cora e Omie podem fechar o gap pela borda.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Três alavancas mudam a curva: eficiência de funil, B2B2C e produto vertical com IA fiscal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para chegar a 6% e além, o mix vencedor troca dependência de mídia por eficiência, distribuição e produto vertical.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1488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Alavanca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Ação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 factual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Impacto esperado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1. Eficiência de funil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Recuperar conversão L→V para patamar inicial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29,6% em abr/21 vs 22,8% em abr/22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mais vendas sem mídia incremental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2. Distribuição B2B2C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White-label/API para marketplaces, fintechs e creators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Canais já concentram MEI digital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CAC próximo de zero via parceiro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3. Produto vertical +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MEI digital + agente Reforma Tributária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IBS/CBS 2026; IA fiscal ainda pouco madura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ARPU/LTV maior e diferenciação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194560" y="4617720"/>
          <a:ext cx="7680960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4320" y="617220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Apresentação/00_storyline.md, mensagens 1–5; Pesquisa/02_analise_dados.md e 05_tendencias.md.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Recomendação: financiar 6% com mix de eficiência + B2B2C + verticalização, usando mídia como complemento.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Quatro caminhos para 6%: dois exigem cheque, dois pedem operação — só dois são defensáveis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a meta de 6% pode ser perseguida por quatro caminhos — só dois deles dependem de cheque incremental relevante.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" y="1965960"/>
            <a:ext cx="2697480" cy="3703320"/>
          </a:xfrm>
          <a:prstGeom prst="rect">
            <a:avLst/>
          </a:prstGeom>
          <a:solidFill>
            <a:srgbClr val="FFFFFF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" y="1965960"/>
            <a:ext cx="2697480" cy="384048"/>
          </a:xfrm>
          <a:prstGeom prst="rect">
            <a:avLst/>
          </a:prstGeom>
          <a:solidFill>
            <a:srgbClr val="6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" y="201168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1. Linear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" y="24231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Regra de três simples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" y="2743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6B8A"/>
                </a:solidFill>
              </a:rPr>
              <a:t>R$ 2,17M/ano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" y="329184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+R$ 181k/mês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" y="35935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3D5C"/>
                </a:solidFill>
              </a:rPr>
              <a:t>Premissa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" y="3813048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D3D5C"/>
                </a:solidFill>
              </a:rPr>
              <a:t>CAC médio R$ 362 × 500 vendas/mês adicionais.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" y="47091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3D5C"/>
                </a:solidFill>
              </a:rPr>
              <a:t>Leitura crítica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" y="4928616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D3D5C"/>
                </a:solidFill>
              </a:rPr>
              <a:t>Ignora retornos decrescentes: piso teórico, não plano executável.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4700" y="1965960"/>
            <a:ext cx="2697480" cy="3703320"/>
          </a:xfrm>
          <a:prstGeom prst="rect">
            <a:avLst/>
          </a:prstGeom>
          <a:solidFill>
            <a:srgbClr val="FFFFFF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4700" y="1965960"/>
            <a:ext cx="26974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4428" y="201168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2. Realista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4428" y="24231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Elasticidade investimento-vendas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4428" y="2743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</a:rPr>
              <a:t>R$ 10,1M/ano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4428" y="329184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+R$ 841k/mês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4428" y="35935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3D5C"/>
                </a:solidFill>
              </a:rPr>
              <a:t>Premissa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4428" y="3813048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D3D5C"/>
                </a:solidFill>
              </a:rPr>
              <a:t>CAC_marginal = CAC_base·(V_alvo/V_atual)^((1−ε)/ε), ε = 0,10 (baixa elasticidade investimento↔vendas observada).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4428" y="47091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3D5C"/>
                </a:solidFill>
              </a:rPr>
              <a:t>Leitura crítica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4428" y="4928616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D3D5C"/>
                </a:solidFill>
              </a:rPr>
              <a:t>Resultado sensível à premissa de ε: variações pequenas em torno de 0,10 alteram o investimento incremental em ordens de grandeza.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6772" y="1965960"/>
            <a:ext cx="2697480" cy="3703320"/>
          </a:xfrm>
          <a:prstGeom prst="rect">
            <a:avLst/>
          </a:prstGeom>
          <a:solidFill>
            <a:srgbClr val="FFFFFF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6772" y="1965960"/>
            <a:ext cx="2697480" cy="384048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6500" y="201168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3. Estratégico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24231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Eficiência de funil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2743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A57"/>
                </a:solidFill>
              </a:rPr>
              <a:t>R$ 0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6500" y="329184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investimento incremental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6500" y="35935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3D5C"/>
                </a:solidFill>
              </a:rPr>
              <a:t>Premissa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0" y="3813048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D3D5C"/>
                </a:solidFill>
              </a:rPr>
              <a:t>Conv L→V de 22,8% → 27,8% com os ~11.700 leads/mês atuais ⇒ ~3.253 vendas (acima da meta de 3.186).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500" y="47091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3D5C"/>
                </a:solidFill>
              </a:rPr>
              <a:t>Leitura crítica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4928616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D3D5C"/>
                </a:solidFill>
              </a:rPr>
              <a:t>Exige operação: qualificação de lead, scoring, atendimento. Aritmética reversa só funciona com plano.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38844" y="1965960"/>
            <a:ext cx="2697480" cy="3703320"/>
          </a:xfrm>
          <a:prstGeom prst="rect">
            <a:avLst/>
          </a:prstGeom>
          <a:solidFill>
            <a:srgbClr val="FFFFFF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38844" y="1965960"/>
            <a:ext cx="26974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8572" y="201168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4. Sazonal (novo)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8572" y="24231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A57"/>
                </a:solidFill>
              </a:rPr>
              <a:t>Realocação proporcional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8572" y="2743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</a:rPr>
              <a:t>R$ 0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8572" y="329184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8A"/>
                </a:solidFill>
              </a:rPr>
              <a:t>mesmo orçamento total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8572" y="35935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3D5C"/>
                </a:solidFill>
              </a:rPr>
              <a:t>Premissa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8572" y="3813048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D3D5C"/>
                </a:solidFill>
              </a:rPr>
              <a:t>CAC_mês = CAC_base·(Mercado_médio/Mercado_mês)^γ, γ = 0,5; concentrar verba nos meses de maior abertura captura 6% sem aumentar gasto.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8572" y="47091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3D5C"/>
                </a:solidFill>
              </a:rPr>
              <a:t>Leitura crítica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8572" y="4928616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D3D5C"/>
                </a:solidFill>
              </a:rPr>
              <a:t>Depende de confirmar a curva sazonal em séries longas; risco de ruído estrutural.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016752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Entrega/index.html (Simuladores 1–4); Apresentação/00_storyline.md, mensagem 5.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Apresentar os quatro caminhos lado a lado; defender estratégico + sazonal como o mix de menor custo e menor risco de saturação.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Defendemos o caminho estratégico + sazonal: zero incremental contra R$ 16,1M do caminho via mídia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o investimento incremental anual entre os caminhos varia em ordens de grandeza; o ônus de provar valor recai sobre o realista, não sobre a operação.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74320" y="2011680"/>
          <a:ext cx="64922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86600" y="2057400"/>
          <a:ext cx="45262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</a:tblGrid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Cenário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Investimento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Mecanismo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Estratégico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R$ 0 incremental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+5 p.p. de conversão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Sazonal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R$ 0 incremental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Mesmo orçamento, melhor timing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R$ 2,17M/ano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Piso teórico, sem saturação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Realista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R$ 16,1M/ano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Custo real via mídia (ε=0,197)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086600" y="3977640"/>
            <a:ext cx="4526280" cy="86868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3977640"/>
            <a:ext cx="64008" cy="86868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050792"/>
            <a:ext cx="43434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Por que defender estratégico + sazonal: ambos preservam capital, atacam o sinal mais forte do dataset (correlação Inv↔CAC=0,934) e respondem ao gargalo real (qualidade de lead, não volume).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937760"/>
            <a:ext cx="4526280" cy="9144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4937760"/>
            <a:ext cx="64008" cy="9144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5010912"/>
            <a:ext cx="4343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Como apresentar à banca: o realista define o teto de custo via mídia; estratégico+sazonal mostram que 6% é alcançável antes mesmo de gastar mais.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89788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Pesquisa/06_auditoria_realista.md (Tabela V); Entrega/index.html (Simuladores 2 e 4).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Recomendação: financiar 6% por eficiência + sazonalidade; manter o cheque do realista como contingência, não como plano 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Plano em três horizontes: diagnóstico imediato, eficiência+B2B2C no curto prazo, escala e M&amp;A no médio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sequenciar diagnóstico → eficiência/B2B2C → escala; cada horizonte só desbloqueia o seguinte com prova de valor.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" y="2258568"/>
            <a:ext cx="11301984" cy="36576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2556" y="2167128"/>
            <a:ext cx="219456" cy="219456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" y="2514600"/>
            <a:ext cx="365760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" y="2514600"/>
            <a:ext cx="3657600" cy="384048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" y="256032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0–30 dias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" y="29718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A57"/>
                </a:solidFill>
              </a:rPr>
              <a:t>Diagnóstico e quick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" y="3291840"/>
            <a:ext cx="3383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3D3D5C"/>
                </a:solidFill>
              </a:rPr>
              <a:t>• Auditoria de origem dos leads: breakdown por canal, custo, conversão e qualidade.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Implementar lead scoring com base em intenção (formulário, página, fonte).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Plano-piloto de realocação sazonal: reduzir verba em meses de baixa, reforçar mai-jun e mar-abr.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Definir KPIs de funil por canal (CAC, L→V, retenção 90d).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4748" y="2167128"/>
            <a:ext cx="219456" cy="219456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5676" y="2514600"/>
            <a:ext cx="365760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5676" y="2514600"/>
            <a:ext cx="3657600" cy="384048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2836" y="256032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30–90 dias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2836" y="29718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A57"/>
                </a:solidFill>
              </a:rPr>
              <a:t>Eficiência + B2B2C piloto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2836" y="3291840"/>
            <a:ext cx="3383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3D3D5C"/>
                </a:solidFill>
              </a:rPr>
              <a:t>• Programa de qualificação de leads: SDR/automação para puxar conv L→V de 22,8% rumo a 27%.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Piloto B2B2C: 1–2 parceiros (Mercado Livre, Shopee ou Hotmart) com white-label de abertura.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Roadmap de produto vertical MEI digital: emissão de NF, conciliação, repasses de plataforma.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Modelo de M&amp;A de carteira: critérios, ticket-alvo e CAC equivalente.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06940" y="2167128"/>
            <a:ext cx="219456" cy="219456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7868" y="2514600"/>
            <a:ext cx="365760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7868" y="2514600"/>
            <a:ext cx="3657600" cy="384048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5028" y="256032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3–12 meses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5028" y="29718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A57"/>
                </a:solidFill>
              </a:rPr>
              <a:t>Escala e diferenciação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5028" y="3291840"/>
            <a:ext cx="3383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3D3D5C"/>
                </a:solidFill>
              </a:rPr>
              <a:t>• Lançar agente IA para Reforma Tributária (IBS/CBS) — diferenciação 2026–2033.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Escalar parcerias B2B2C para 5+ canais; medir CAC blended e ARPU/LTV.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Aquisição de 2–3 carteiras de escritórios fragmentados (M&amp;A) com pricing modelado.</a:t>
            </a:r>
          </a:p>
          <a:p>
            <a:pPr algn="l"/>
            <a:r>
              <a:rPr sz="800">
                <a:solidFill>
                  <a:srgbClr val="3D3D5C"/>
                </a:solidFill>
              </a:rPr>
              <a:t>• Re-avaliar meta 6% → 7%+ se conv L→V e B2B2C entregarem; só então retomar cheque incremental.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016752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Apresentação/00_storyline.md (mensagens 2, 4 e 5); Pesquisa/05_tendencias.md; Pesquisa/04_concorrentes.md.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Sem cheque adicional nos 90 primeiros dias: o objetivo é provar que estratégico+sazonal entregam antes de ampliar o orçamento.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Conclusão: 6% via operação primeiro, cheque depois — e nove perguntas que sustentam a decisão de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A57"/>
                </a:solidFill>
              </a:rPr>
              <a:t>Conclusão consolidada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3D3D5C"/>
                </a:solidFill>
              </a:rPr>
              <a:t>A Contabilizei comprou +1,39 p.p. de market share triplicando o investimento — evidência clara de rendimentos decrescentes (correlação Inv↔CAC=0,934, conv L→V 29,6%→22,8%). O caminho para 6%+ não está em acelerar o mesmo motor, mas em re-alavancar três motores subutilizados: eficiência de funil, distribuição B2B2C e produtos verticais para o novo MEI digital.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3D3D5C"/>
                </a:solidFill>
              </a:rPr>
              <a:t>Entre os quatro caminhos para a meta, dois preservam capital (estratégico e sazonal); o caminho realista, recalibrado pela auditoria (R$ 16,1M/ano), define o teto de custo via mídia e justifica priorizar operação antes de cheque.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3D3D5C"/>
                </a:solidFill>
              </a:rPr>
              <a:t>A tese da Warburg Pincus (IA + automação fiscal) e os movimentos recentes (Contabilizei.bank, Multibenefícios, parcerias B2B2C) confirmam a direção — o que mudamos é a prioridade relativa e a ancoragem nos números da planilha.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71600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A57"/>
                </a:solidFill>
              </a:rPr>
              <a:t>Próximos tópicos de pesquisa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80760" y="1737360"/>
          <a:ext cx="58338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936"/>
                <a:gridCol w="2916936"/>
              </a:tblGrid>
              <a:tr h="4114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Tópico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Por que importa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LTV / CAC por coorte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Justifica ou não a aquisição incremental atual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Breakdown de canal e ROAS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Onde há saturação real vs escala eficiente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Qualidade de lead por origem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Decide entre cortar mídia ou corrigir venda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Churn, MRR, ticket, expansão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Quanto cresce margem após a venda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Eficácia das parcerias B2B2C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B2B2C já é motor ou ainda hipótese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Benchmark CAC vs concorrentes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Ineficiência específica ou estrutural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Viabilidade do produto MEI 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Roadmap rápido vs concorrentes pela borda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Sazonalidade em séries longas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Confirma curva para planejamento de mídia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Modelo de M&amp;A de carteiras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Aquisição não orgânica vs CAC orgânico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6016752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Entrega/index.html (Considerações finais); Apresentação/00_storyline.md (tese central e mensagens 1–5).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A entrega vira plano de growth para diretor: o que sabemos, o que ainda precisamos saber e a sequência de decisões.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Case Contabilizei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6B8A"/>
                </a:solidFill>
              </a:rPr>
              <a:t>Análise — 2026-05-18  ·  fonte: Pesquisa/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7607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A57"/>
                </a:solidFill>
              </a:rPr>
              <a:t>Apêndice — sete pontos cegos da planilha que mudam a recomendação se preenchidos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0292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64008" cy="50292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457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Mensagem central: a planilha cobre só aquisição em 13 meses; decisões sobre LTV, canal e retenção dependem de dados que não estão nela.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148840"/>
          <a:ext cx="11457432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3943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Ponto cego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 que falta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Impacto na recomendação</a:t>
                      </a:r>
                    </a:p>
                  </a:txBody>
                  <a:tcPr>
                    <a:solidFill>
                      <a:srgbClr val="00C16E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LTV, MRR, churn e expansão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Sem retenção, não há CAC/LTV ratio — base do business de assinatura.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Pedir cohort analysis 24m da base atual; expandir simuladores com payback.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Breakdown por canal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Investimento aparece consolidado; impossível separar Google, Meta, SEO, indicação e parceiros.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Sem isso, qualquer recomendação de realocação é direcional, não cirúrgica.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Qualidade de lead por origem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Conversão L→V caiu 6,8 p.p. mas a planilha não distingue lead vindo de marca, SEO ou paid.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É o gargalo que mais sangra valor; primeira prioridade de pesquisa adicional.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ARPU / ticket médio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Sem preço médio nem mix de produto (contábil x banking x multibenefícios), receita projetada vira chute.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Reforma Tributária e cross-sell mudam ARPU; precisamos do baseline.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Sazonalidade em série longa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Apenas 13 meses; dez/21 sozinho domina conclusões sobre realocação sazonal.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Validar curva com 5+ anos antes de comprometer plano sazonal.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Concorrentes e benchmarks externos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Não há CAC, churn nem conversão de Conta Azul, Omie, Nubank PJ.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Sem benchmark, não dá para saber se ineficiência é Contabilizei ou de mercado.</a:t>
                      </a:r>
                    </a:p>
                  </a:txBody>
                  <a:tcPr>
                    <a:solidFill>
                      <a:srgbClr val="F4F4F9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Coorte pós-venda (D30, D90, D365)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Dataset corta no instante da venda; nada sobre ativação, retenção precoce ou downgrade.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D3D5C"/>
                          </a:solidFill>
                        </a:defRPr>
                      </a:pPr>
                      <a:r>
                        <a:t>Em SaaS, retenção precoce define se aquisição compõe ou destrói valor.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31520" y="5394960"/>
            <a:ext cx="10725912" cy="640080"/>
          </a:xfrm>
          <a:prstGeom prst="rect">
            <a:avLst/>
          </a:prstGeom>
          <a:solidFill>
            <a:srgbClr val="D6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64008" cy="640080"/>
          </a:xfrm>
          <a:prstGeom prst="rect">
            <a:avLst/>
          </a:prstGeom>
          <a:solidFill>
            <a:srgbClr val="00C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468112"/>
            <a:ext cx="10543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Apontar lacunas é maturidade, não desculpa: a tese central segue em pé, mas o passo seguinte exige instrumentação interna mais granular antes de comprometer capital adicional.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12648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B6B8A"/>
                </a:solidFill>
              </a:rPr>
              <a:t>Fonte: Pesquisa/02_analise_dados.md §5; Apresentação/00_storyline.md (so what e R3).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80760"/>
            <a:ext cx="12188952" cy="457200"/>
          </a:xfrm>
          <a:prstGeom prst="rect">
            <a:avLst/>
          </a:prstGeom>
          <a:solidFill>
            <a:srgbClr val="009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13562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▶  Ponto cego ≠ omissão: cada lacuna abaixo muda a recomendação se preenchida.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